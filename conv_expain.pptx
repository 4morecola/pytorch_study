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99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18681-9833-0EA2-6CD4-CDB685872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9CFC2F-D3A1-B0DA-42B3-AE1CFCCA5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2C6798-73E3-F93D-6068-D731B248E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8B58A9-7246-D96E-592B-107404EE3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BA2A8D-055D-FAAF-1A53-B708AB3F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42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A6D9F-019E-6CCC-BB66-3619A40B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EDACDA-6F51-2079-CB0C-30527D19F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A0DEE5-5F3A-A5B4-878B-08A58B5E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7E6C79-5522-5922-EED8-6156291E5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12D32D-BD58-4237-A494-3475E8EF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7FA7A-2E3E-B868-48F1-914673A1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5BAB4C-B0EF-2F62-5946-5B5DD5BFC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FE0B11-7EEC-87CB-AA6F-E5965CE6D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9B1997-AD5C-B35E-2B46-0211DFCA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D84C5-63EB-91E6-7D89-78A32A4F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796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E0F62-076D-3FAE-4FAC-0E52158D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D3A5F6-3E46-F90E-BECD-2C3CF3041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F49D86-099A-3F19-B3BC-B3778FF95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7373C0-C16D-430C-DA74-BDFEA11F1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A3EED7-8E33-66C9-7986-FC8E0820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31A7E2-4013-BA0A-E46C-534723ECB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22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F41B7-DA51-BDD6-3D6D-DB782DAE6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69EB53-06AE-48C6-6B32-AC55488DB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14D4CA-8EA9-48F5-6281-B5FD9BAC4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6FA5CF-FA18-5292-6CDE-E56A98849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924A12-244E-FBA0-298F-4EB1D2805F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017C6B-9B80-2260-0AB6-9A7A40B9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2E0111-F88E-854A-06A3-B76F5874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4B6E7D-7E98-9480-022A-87EE7887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218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8964F-F65C-6E01-6DB5-57BD5E9E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D242AD-0B30-D0A6-E4A4-ABBAFBE5B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4676FF-6123-73CD-132A-A3C8B5C5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F82A5D-EC4D-F6F0-0AAF-C2CDBE234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178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6671E7-403D-3BCB-9105-6BC290078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0A4B65-AA14-1452-4EA2-73CAF548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61009E-4492-41D3-13BA-E8A59B73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66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A58F3-6B58-E8A5-5A9A-D2D70476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6FE1A9-A323-77AA-3A81-95A8F9A4E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180AE6-A214-1FD8-0110-DD7B8E7B1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31B5CB-F897-E2E5-AD56-E8C248089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134548-A750-2464-2467-4A194C72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4C76BC-BCF4-E8BD-04E4-9AC17680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14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E1535-E019-3D64-33DF-E236E19E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C5FFEE-33CF-05A8-FBB0-A7D665566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607BD9-15D1-1848-57FA-866E0468E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FD0B83-8FC4-64E1-0600-89E3963F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9C8EEA-4337-751F-CC42-5F88E001F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86081D-DB9A-5E36-A5C2-9B9D28E4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991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1C2B9-821C-04DE-CF19-0D7E6220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2B05DB-969B-8ECC-A343-6D68BF925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321F57-71ED-FBAF-7977-2CEB983E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23C566-DA02-C54A-E823-D4F6E8EA3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3ACF84-8B99-E9DF-8A90-038441AC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703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A1E980-7DEF-6974-3A91-FF2A9C249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E47422-31ED-80E3-FC28-F386AC15D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7FD92E-4A15-91CE-18F1-98F0D62BE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C3658F-FF28-998D-271B-DAA1B3D6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E5770-BC35-EE1A-80D2-CEF1948E9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65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29B270-8162-307B-C990-E91322902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56FDC7-4CFD-B93E-3F46-E0C699E66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5A061D-3287-2240-E4A7-503339A9F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653C8-12BF-465C-8AD4-D941A05D395F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1CB80-78D3-CA15-D1BA-EA4C11504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00FDE-83FA-2270-3F07-16A5C7197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146E7-7AAA-41F5-B8D2-1AFA8C1F40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49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6B50967-E825-5E05-33C2-18D6F5858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850727"/>
              </p:ext>
            </p:extLst>
          </p:nvPr>
        </p:nvGraphicFramePr>
        <p:xfrm>
          <a:off x="786502" y="1134875"/>
          <a:ext cx="3034520" cy="2322115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75000"/>
                  </a:schemeClr>
                </a:solidFill>
              </a:tblPr>
              <a:tblGrid>
                <a:gridCol w="606904">
                  <a:extLst>
                    <a:ext uri="{9D8B030D-6E8A-4147-A177-3AD203B41FA5}">
                      <a16:colId xmlns:a16="http://schemas.microsoft.com/office/drawing/2014/main" val="2398424479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4187926028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3328701447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921959665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2954519455"/>
                    </a:ext>
                  </a:extLst>
                </a:gridCol>
              </a:tblGrid>
              <a:tr h="464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08170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591920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687094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79806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94015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4043F6B-3774-073F-5434-802C64D465E0}"/>
              </a:ext>
            </a:extLst>
          </p:cNvPr>
          <p:cNvSpPr txBox="1"/>
          <p:nvPr/>
        </p:nvSpPr>
        <p:spPr>
          <a:xfrm>
            <a:off x="1459621" y="3787453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altLang="zh-CN" dirty="0"/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输入图像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1F56B41-3032-FF6F-A9F4-0B2A2C89E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662150"/>
              </p:ext>
            </p:extLst>
          </p:nvPr>
        </p:nvGraphicFramePr>
        <p:xfrm>
          <a:off x="5185643" y="1603060"/>
          <a:ext cx="1820712" cy="139326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6904">
                  <a:extLst>
                    <a:ext uri="{9D8B030D-6E8A-4147-A177-3AD203B41FA5}">
                      <a16:colId xmlns:a16="http://schemas.microsoft.com/office/drawing/2014/main" val="2398424479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4187926028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3328701447"/>
                    </a:ext>
                  </a:extLst>
                </a:gridCol>
              </a:tblGrid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08170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591920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68709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6C01F25-062D-0D06-224C-C3595E140209}"/>
              </a:ext>
            </a:extLst>
          </p:cNvPr>
          <p:cNvSpPr txBox="1"/>
          <p:nvPr/>
        </p:nvSpPr>
        <p:spPr>
          <a:xfrm>
            <a:off x="5657418" y="378745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卷积核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CFE3EA-E2E1-6816-5AF9-CD3265608B7A}"/>
              </a:ext>
            </a:extLst>
          </p:cNvPr>
          <p:cNvSpPr txBox="1"/>
          <p:nvPr/>
        </p:nvSpPr>
        <p:spPr>
          <a:xfrm>
            <a:off x="786502" y="304773"/>
            <a:ext cx="6277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Stride = 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时，当卷积核需要横向或者藏香移动，每次移动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格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FB0AEC-AABC-3F67-D99C-8686EAB1D0DC}"/>
              </a:ext>
            </a:extLst>
          </p:cNvPr>
          <p:cNvSpPr txBox="1"/>
          <p:nvPr/>
        </p:nvSpPr>
        <p:spPr>
          <a:xfrm>
            <a:off x="786502" y="4582340"/>
            <a:ext cx="573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1*1 + 2*2 + 0*3 + 0*0 + 1*1 + 2*0 + 1*2 + 2*1 + 1*0 = 10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D5043BA-4995-8D1D-B991-A6EC86280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776981"/>
              </p:ext>
            </p:extLst>
          </p:nvPr>
        </p:nvGraphicFramePr>
        <p:xfrm>
          <a:off x="8370976" y="1599296"/>
          <a:ext cx="1820712" cy="1393269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75000"/>
                  </a:schemeClr>
                </a:solidFill>
              </a:tblPr>
              <a:tblGrid>
                <a:gridCol w="606904">
                  <a:extLst>
                    <a:ext uri="{9D8B030D-6E8A-4147-A177-3AD203B41FA5}">
                      <a16:colId xmlns:a16="http://schemas.microsoft.com/office/drawing/2014/main" val="2398424479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4187926028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3328701447"/>
                    </a:ext>
                  </a:extLst>
                </a:gridCol>
              </a:tblGrid>
              <a:tr h="464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08170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591920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687094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76043798-9C54-1EA8-E382-69DF2143896E}"/>
              </a:ext>
            </a:extLst>
          </p:cNvPr>
          <p:cNvSpPr txBox="1"/>
          <p:nvPr/>
        </p:nvSpPr>
        <p:spPr>
          <a:xfrm>
            <a:off x="786502" y="4997391"/>
            <a:ext cx="573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2*1 + 0*2 + 3*1 + 1*0 + 2*1 + 3*0 + 2*2 + 1*1 + 0*0 = 12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1FEA103-B6FF-CFF9-3AAC-65DC1195A171}"/>
              </a:ext>
            </a:extLst>
          </p:cNvPr>
          <p:cNvSpPr txBox="1"/>
          <p:nvPr/>
        </p:nvSpPr>
        <p:spPr>
          <a:xfrm>
            <a:off x="8868398" y="378745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D03CB38-0A9B-459E-3C4F-D02EAE3A28F6}"/>
              </a:ext>
            </a:extLst>
          </p:cNvPr>
          <p:cNvSpPr txBox="1"/>
          <p:nvPr/>
        </p:nvSpPr>
        <p:spPr>
          <a:xfrm>
            <a:off x="3613273" y="541244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B18B0B4-44D4-D2D8-F693-3BDE74AC4DDE}"/>
              </a:ext>
            </a:extLst>
          </p:cNvPr>
          <p:cNvSpPr txBox="1"/>
          <p:nvPr/>
        </p:nvSpPr>
        <p:spPr>
          <a:xfrm>
            <a:off x="795509" y="5827493"/>
            <a:ext cx="573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0*1 + 1*2 + 2*1 + 1*0 + 2*1 + 1*0 + 5*2 + 2*1 + 3*0 = 18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F0CDC54-B387-8B5F-6BAD-3F258F195E17}"/>
              </a:ext>
            </a:extLst>
          </p:cNvPr>
          <p:cNvSpPr txBox="1"/>
          <p:nvPr/>
        </p:nvSpPr>
        <p:spPr>
          <a:xfrm>
            <a:off x="3613273" y="62425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9516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3039-2E4C-CE9C-FDC0-96A66B720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3AA418C-9533-5A38-1E82-E100C9FCE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82079"/>
              </p:ext>
            </p:extLst>
          </p:nvPr>
        </p:nvGraphicFramePr>
        <p:xfrm>
          <a:off x="786503" y="1060233"/>
          <a:ext cx="3034520" cy="2322115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75000"/>
                  </a:schemeClr>
                </a:solidFill>
              </a:tblPr>
              <a:tblGrid>
                <a:gridCol w="606904">
                  <a:extLst>
                    <a:ext uri="{9D8B030D-6E8A-4147-A177-3AD203B41FA5}">
                      <a16:colId xmlns:a16="http://schemas.microsoft.com/office/drawing/2014/main" val="2398424479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4187926028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3328701447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921959665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2954519455"/>
                    </a:ext>
                  </a:extLst>
                </a:gridCol>
              </a:tblGrid>
              <a:tr h="464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08170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591920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687094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79806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94015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7B8C0EE-5EAF-E8FA-7A25-683B2D7B25C4}"/>
              </a:ext>
            </a:extLst>
          </p:cNvPr>
          <p:cNvSpPr txBox="1"/>
          <p:nvPr/>
        </p:nvSpPr>
        <p:spPr>
          <a:xfrm>
            <a:off x="1459622" y="3712811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altLang="zh-CN" dirty="0"/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输入图像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13F4C75-A7B1-5BD5-F53C-CE572DB87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468730"/>
              </p:ext>
            </p:extLst>
          </p:nvPr>
        </p:nvGraphicFramePr>
        <p:xfrm>
          <a:off x="5185644" y="1528418"/>
          <a:ext cx="1820712" cy="139326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6904">
                  <a:extLst>
                    <a:ext uri="{9D8B030D-6E8A-4147-A177-3AD203B41FA5}">
                      <a16:colId xmlns:a16="http://schemas.microsoft.com/office/drawing/2014/main" val="2398424479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4187926028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3328701447"/>
                    </a:ext>
                  </a:extLst>
                </a:gridCol>
              </a:tblGrid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08170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591920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68709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9EE5BDB-F798-B57E-20D7-FC2770A34471}"/>
              </a:ext>
            </a:extLst>
          </p:cNvPr>
          <p:cNvSpPr txBox="1"/>
          <p:nvPr/>
        </p:nvSpPr>
        <p:spPr>
          <a:xfrm>
            <a:off x="5657419" y="371281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卷积核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3898E0-EADF-B0A2-FBA9-58A4A0AF1AB7}"/>
              </a:ext>
            </a:extLst>
          </p:cNvPr>
          <p:cNvSpPr txBox="1"/>
          <p:nvPr/>
        </p:nvSpPr>
        <p:spPr>
          <a:xfrm>
            <a:off x="743738" y="360438"/>
            <a:ext cx="6290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Stride = 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时，当卷积核需要横向或者藏香移动，每次移动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格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F0DFBA-0EB2-9FA3-6816-7AEE1796DF55}"/>
              </a:ext>
            </a:extLst>
          </p:cNvPr>
          <p:cNvSpPr txBox="1"/>
          <p:nvPr/>
        </p:nvSpPr>
        <p:spPr>
          <a:xfrm>
            <a:off x="786503" y="4507698"/>
            <a:ext cx="573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1*1 + 2*2 + 0*3 + 0*0 + 1*1 + 2*0 + 1*2 + 2*1 + 1*0 = 10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77F9E69-F8E2-C926-7D6C-705FDC58E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19598"/>
              </p:ext>
            </p:extLst>
          </p:nvPr>
        </p:nvGraphicFramePr>
        <p:xfrm>
          <a:off x="8674428" y="1756867"/>
          <a:ext cx="1213808" cy="928846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75000"/>
                  </a:schemeClr>
                </a:solidFill>
              </a:tblPr>
              <a:tblGrid>
                <a:gridCol w="606904">
                  <a:extLst>
                    <a:ext uri="{9D8B030D-6E8A-4147-A177-3AD203B41FA5}">
                      <a16:colId xmlns:a16="http://schemas.microsoft.com/office/drawing/2014/main" val="2398424479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4187926028"/>
                    </a:ext>
                  </a:extLst>
                </a:gridCol>
              </a:tblGrid>
              <a:tr h="464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08170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591920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1F97CB9-72FB-2399-5943-EA9C513FDA33}"/>
              </a:ext>
            </a:extLst>
          </p:cNvPr>
          <p:cNvSpPr txBox="1"/>
          <p:nvPr/>
        </p:nvSpPr>
        <p:spPr>
          <a:xfrm>
            <a:off x="786503" y="4922749"/>
            <a:ext cx="573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0*1 + 3*2 + 1*1 + 2*0 + 3*1 + 1*0 + 1*2 + 0*1 + 0*0 = 12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BA7B47-3821-2FCD-9ACD-7E05733E656C}"/>
              </a:ext>
            </a:extLst>
          </p:cNvPr>
          <p:cNvSpPr txBox="1"/>
          <p:nvPr/>
        </p:nvSpPr>
        <p:spPr>
          <a:xfrm>
            <a:off x="8868399" y="3712811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525FDF1-9A17-B1EE-0B40-3697BB3E1FD1}"/>
              </a:ext>
            </a:extLst>
          </p:cNvPr>
          <p:cNvSpPr txBox="1"/>
          <p:nvPr/>
        </p:nvSpPr>
        <p:spPr>
          <a:xfrm>
            <a:off x="3613274" y="53378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C30196-89E2-1D4B-9ECF-049E9B16F6B4}"/>
              </a:ext>
            </a:extLst>
          </p:cNvPr>
          <p:cNvSpPr txBox="1"/>
          <p:nvPr/>
        </p:nvSpPr>
        <p:spPr>
          <a:xfrm>
            <a:off x="743738" y="5752851"/>
            <a:ext cx="5739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1*1 + 2*2 + 1*1 + 5*0 + 2*1 + 3*0 + 2*2 + 1*1 + 0*0 = 13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965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D0893-471B-D65A-0DB6-C93462010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7FDBF68-A86E-773D-D2D2-02C5C1482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407719"/>
              </p:ext>
            </p:extLst>
          </p:nvPr>
        </p:nvGraphicFramePr>
        <p:xfrm>
          <a:off x="949012" y="1728803"/>
          <a:ext cx="3034521" cy="3250961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75000"/>
                  </a:schemeClr>
                </a:solidFill>
              </a:tblPr>
              <a:tblGrid>
                <a:gridCol w="433503">
                  <a:extLst>
                    <a:ext uri="{9D8B030D-6E8A-4147-A177-3AD203B41FA5}">
                      <a16:colId xmlns:a16="http://schemas.microsoft.com/office/drawing/2014/main" val="154844702"/>
                    </a:ext>
                  </a:extLst>
                </a:gridCol>
                <a:gridCol w="433503">
                  <a:extLst>
                    <a:ext uri="{9D8B030D-6E8A-4147-A177-3AD203B41FA5}">
                      <a16:colId xmlns:a16="http://schemas.microsoft.com/office/drawing/2014/main" val="2398424479"/>
                    </a:ext>
                  </a:extLst>
                </a:gridCol>
                <a:gridCol w="433503">
                  <a:extLst>
                    <a:ext uri="{9D8B030D-6E8A-4147-A177-3AD203B41FA5}">
                      <a16:colId xmlns:a16="http://schemas.microsoft.com/office/drawing/2014/main" val="4187926028"/>
                    </a:ext>
                  </a:extLst>
                </a:gridCol>
                <a:gridCol w="433503">
                  <a:extLst>
                    <a:ext uri="{9D8B030D-6E8A-4147-A177-3AD203B41FA5}">
                      <a16:colId xmlns:a16="http://schemas.microsoft.com/office/drawing/2014/main" val="3328701447"/>
                    </a:ext>
                  </a:extLst>
                </a:gridCol>
                <a:gridCol w="433503">
                  <a:extLst>
                    <a:ext uri="{9D8B030D-6E8A-4147-A177-3AD203B41FA5}">
                      <a16:colId xmlns:a16="http://schemas.microsoft.com/office/drawing/2014/main" val="921959665"/>
                    </a:ext>
                  </a:extLst>
                </a:gridCol>
                <a:gridCol w="433503">
                  <a:extLst>
                    <a:ext uri="{9D8B030D-6E8A-4147-A177-3AD203B41FA5}">
                      <a16:colId xmlns:a16="http://schemas.microsoft.com/office/drawing/2014/main" val="2954519455"/>
                    </a:ext>
                  </a:extLst>
                </a:gridCol>
                <a:gridCol w="433503">
                  <a:extLst>
                    <a:ext uri="{9D8B030D-6E8A-4147-A177-3AD203B41FA5}">
                      <a16:colId xmlns:a16="http://schemas.microsoft.com/office/drawing/2014/main" val="1717977278"/>
                    </a:ext>
                  </a:extLst>
                </a:gridCol>
              </a:tblGrid>
              <a:tr h="464423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930511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08170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591920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687094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79806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940156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82632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73C4B4E-AA56-590F-00AE-842567F1402D}"/>
              </a:ext>
            </a:extLst>
          </p:cNvPr>
          <p:cNvSpPr txBox="1"/>
          <p:nvPr/>
        </p:nvSpPr>
        <p:spPr>
          <a:xfrm>
            <a:off x="1664896" y="5308346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altLang="zh-CN" dirty="0"/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输入图像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0A63543-4278-F300-A568-2D7982FB7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208539"/>
              </p:ext>
            </p:extLst>
          </p:nvPr>
        </p:nvGraphicFramePr>
        <p:xfrm>
          <a:off x="5390918" y="2737803"/>
          <a:ext cx="1820712" cy="139326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06904">
                  <a:extLst>
                    <a:ext uri="{9D8B030D-6E8A-4147-A177-3AD203B41FA5}">
                      <a16:colId xmlns:a16="http://schemas.microsoft.com/office/drawing/2014/main" val="2398424479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4187926028"/>
                    </a:ext>
                  </a:extLst>
                </a:gridCol>
                <a:gridCol w="606904">
                  <a:extLst>
                    <a:ext uri="{9D8B030D-6E8A-4147-A177-3AD203B41FA5}">
                      <a16:colId xmlns:a16="http://schemas.microsoft.com/office/drawing/2014/main" val="3328701447"/>
                    </a:ext>
                  </a:extLst>
                </a:gridCol>
              </a:tblGrid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08170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591920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68709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5FC8949-866A-4D63-9BA6-A98CA876E217}"/>
              </a:ext>
            </a:extLst>
          </p:cNvPr>
          <p:cNvSpPr txBox="1"/>
          <p:nvPr/>
        </p:nvSpPr>
        <p:spPr>
          <a:xfrm>
            <a:off x="5862693" y="530834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卷积核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CE12DCF-35CC-DA0F-EEA8-05936A914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32778"/>
              </p:ext>
            </p:extLst>
          </p:nvPr>
        </p:nvGraphicFramePr>
        <p:xfrm>
          <a:off x="7920456" y="2193225"/>
          <a:ext cx="3132300" cy="2322115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75000"/>
                  </a:schemeClr>
                </a:solidFill>
              </a:tblPr>
              <a:tblGrid>
                <a:gridCol w="626460">
                  <a:extLst>
                    <a:ext uri="{9D8B030D-6E8A-4147-A177-3AD203B41FA5}">
                      <a16:colId xmlns:a16="http://schemas.microsoft.com/office/drawing/2014/main" val="2398424479"/>
                    </a:ext>
                  </a:extLst>
                </a:gridCol>
                <a:gridCol w="626460">
                  <a:extLst>
                    <a:ext uri="{9D8B030D-6E8A-4147-A177-3AD203B41FA5}">
                      <a16:colId xmlns:a16="http://schemas.microsoft.com/office/drawing/2014/main" val="4187926028"/>
                    </a:ext>
                  </a:extLst>
                </a:gridCol>
                <a:gridCol w="626460">
                  <a:extLst>
                    <a:ext uri="{9D8B030D-6E8A-4147-A177-3AD203B41FA5}">
                      <a16:colId xmlns:a16="http://schemas.microsoft.com/office/drawing/2014/main" val="3622535378"/>
                    </a:ext>
                  </a:extLst>
                </a:gridCol>
                <a:gridCol w="626460">
                  <a:extLst>
                    <a:ext uri="{9D8B030D-6E8A-4147-A177-3AD203B41FA5}">
                      <a16:colId xmlns:a16="http://schemas.microsoft.com/office/drawing/2014/main" val="70977806"/>
                    </a:ext>
                  </a:extLst>
                </a:gridCol>
                <a:gridCol w="626460">
                  <a:extLst>
                    <a:ext uri="{9D8B030D-6E8A-4147-A177-3AD203B41FA5}">
                      <a16:colId xmlns:a16="http://schemas.microsoft.com/office/drawing/2014/main" val="1919639352"/>
                    </a:ext>
                  </a:extLst>
                </a:gridCol>
              </a:tblGrid>
              <a:tr h="4644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081705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591920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876821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824600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840521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07214836-E14E-A24A-2DB7-16BB0E56DCF0}"/>
              </a:ext>
            </a:extLst>
          </p:cNvPr>
          <p:cNvSpPr txBox="1"/>
          <p:nvPr/>
        </p:nvSpPr>
        <p:spPr>
          <a:xfrm>
            <a:off x="9073673" y="530834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CADD5C-D76A-D2C9-6200-C574FB51E904}"/>
              </a:ext>
            </a:extLst>
          </p:cNvPr>
          <p:cNvSpPr txBox="1"/>
          <p:nvPr/>
        </p:nvSpPr>
        <p:spPr>
          <a:xfrm>
            <a:off x="743738" y="366863"/>
            <a:ext cx="8204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Padding=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不为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时，会在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input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四周添加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Padding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个默认值为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的元素进行卷积计算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7346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334</Words>
  <Application>Microsoft Office PowerPoint</Application>
  <PresentationFormat>宽屏</PresentationFormat>
  <Paragraphs>161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黑体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玮 刘</dc:creator>
  <cp:lastModifiedBy>玮 刘</cp:lastModifiedBy>
  <cp:revision>1</cp:revision>
  <dcterms:created xsi:type="dcterms:W3CDTF">2026-01-21T11:42:43Z</dcterms:created>
  <dcterms:modified xsi:type="dcterms:W3CDTF">2026-01-21T12:55:47Z</dcterms:modified>
</cp:coreProperties>
</file>